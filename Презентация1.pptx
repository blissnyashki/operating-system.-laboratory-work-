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</p:sldMasterIdLst>
  <p:notesMasterIdLst>
    <p:notesMasterId r:id="rId13"/>
  </p:notesMasterIdLst>
  <p:handoutMasterIdLst>
    <p:handoutMasterId r:id="rId14"/>
  </p:handoutMasterIdLst>
  <p:sldIdLst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95" autoAdjust="0"/>
    <p:restoredTop sz="95958" autoAdjust="0"/>
  </p:normalViewPr>
  <p:slideViewPr>
    <p:cSldViewPr snapToGrid="0">
      <p:cViewPr>
        <p:scale>
          <a:sx n="107" d="100"/>
          <a:sy n="107" d="100"/>
        </p:scale>
        <p:origin x="-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B596BA-F330-4785-8461-F74708FFCA50}" type="datetime1">
              <a:rPr lang="ru-RU" smtClean="0"/>
              <a:t>28.02.2021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A83F606-8A8B-426E-A649-E6072AD6EE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761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7E9F4-7ED8-495D-B52D-5485A5BC0ACA}" type="datetime1">
              <a:rPr lang="ru-RU" noProof="0" smtClean="0"/>
              <a:pPr/>
              <a:t>28.02.2021</a:t>
            </a:fld>
            <a:endParaRPr lang="ru-RU" noProof="0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4DD8812-632B-44E3-B183-D20ADC793C3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90637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4DD8812-632B-44E3-B183-D20ADC793C3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761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2F2DED7-F6AC-4866-8138-11B328ED7527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0" name="Овал 9">
            <a:extLst>
              <a:ext uri="{FF2B5EF4-FFF2-40B4-BE49-F238E27FC236}">
                <a16:creationId xmlns:a16="http://schemas.microsoft.com/office/drawing/2014/main" id="{4230EDF6-6980-2744-8795-420FF0A96E39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2DA263A-E46B-FE43-B28C-5692F336ED7D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9170FE6D-8B4A-4047-B4AB-E4183548056C}"/>
              </a:ext>
            </a:extLst>
          </p:cNvPr>
          <p:cNvSpPr/>
          <p:nvPr userDrawn="1"/>
        </p:nvSpPr>
        <p:spPr>
          <a:xfrm>
            <a:off x="5664569" y="541205"/>
            <a:ext cx="283407" cy="283407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F3A7992-3172-0842-B3B7-F1CA941A4444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C15EFAF-447A-2441-A2A8-47A022289617}"/>
              </a:ext>
            </a:extLst>
          </p:cNvPr>
          <p:cNvSpPr/>
          <p:nvPr userDrawn="1"/>
        </p:nvSpPr>
        <p:spPr>
          <a:xfrm>
            <a:off x="0" y="-1994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15942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DD0CC0D-F4E8-4EB2-A425-24C0A08BF2ED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90FDF40-A715-B844-A62A-1F43B8714523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2E4AFE14-70A2-E94D-A627-26EE43A4F12D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7E66DE9-82A5-E043-8222-14D0562279AC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804AC7CA-206E-C74D-A618-2582443D2FB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C9F13314-B331-314A-8B9C-F9E0D56E477B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F15A573F-5435-8B48-B922-B4F57AE0E6CA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A9DEA4FF-1B0E-A24E-9F61-7E03C145649D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4" name="Овал 13">
            <a:extLst>
              <a:ext uri="{FF2B5EF4-FFF2-40B4-BE49-F238E27FC236}">
                <a16:creationId xmlns:a16="http://schemas.microsoft.com/office/drawing/2014/main" id="{7AA1E882-B05E-2F4E-B2EE-F71CAED9200C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2F34A28-BD40-824C-B05E-CFBD4698CE25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13373AB-1483-4A4C-AB33-91EABDA001DE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0803922-73A1-9945-963C-93C09582BCEB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25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5B89D9-0013-4DF9-B570-27DC755C2F3F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5D893BD7-037B-F94B-AB2E-64604E924EE6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890A5E-E768-9944-B4E6-636EA1CEA5A8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A18B61A-7680-314C-BF0D-0466C1981330}"/>
              </a:ext>
            </a:extLst>
          </p:cNvPr>
          <p:cNvSpPr/>
          <p:nvPr userDrawn="1"/>
        </p:nvSpPr>
        <p:spPr>
          <a:xfrm>
            <a:off x="11634902" y="2565781"/>
            <a:ext cx="283407" cy="283407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1C0855C-ECA0-7F4E-B74C-0703AA224FD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9E4A1B28-56F6-514F-961A-DF0677911D71}"/>
              </a:ext>
            </a:extLst>
          </p:cNvPr>
          <p:cNvSpPr/>
          <p:nvPr userDrawn="1"/>
        </p:nvSpPr>
        <p:spPr>
          <a:xfrm>
            <a:off x="6135" y="0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7402538-9584-4F4B-8366-838B4E6866C0}"/>
              </a:ext>
            </a:extLst>
          </p:cNvPr>
          <p:cNvGrpSpPr/>
          <p:nvPr userDrawn="1"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D937AA68-856A-BD4D-84C2-64B9A49874CA}"/>
                </a:ext>
              </a:extLst>
            </p:cNvPr>
            <p:cNvSpPr/>
            <p:nvPr userDrawn="1"/>
          </p:nvSpPr>
          <p:spPr>
            <a:xfrm>
              <a:off x="495300" y="0"/>
              <a:ext cx="1337265" cy="6880860"/>
            </a:xfrm>
            <a:custGeom>
              <a:avLst/>
              <a:gdLst>
                <a:gd name="connsiteX0" fmla="*/ 1173967 w 1337265"/>
                <a:gd name="connsiteY0" fmla="*/ 0 h 6880860"/>
                <a:gd name="connsiteX1" fmla="*/ 1319300 w 1337265"/>
                <a:gd name="connsiteY1" fmla="*/ 0 h 6880860"/>
                <a:gd name="connsiteX2" fmla="*/ 1204253 w 1337265"/>
                <a:gd name="connsiteY2" fmla="*/ 146399 h 6880860"/>
                <a:gd name="connsiteX3" fmla="*/ 114300 w 1337265"/>
                <a:gd name="connsiteY3" fmla="*/ 3429000 h 6880860"/>
                <a:gd name="connsiteX4" fmla="*/ 1204253 w 1337265"/>
                <a:gd name="connsiteY4" fmla="*/ 6711601 h 6880860"/>
                <a:gd name="connsiteX5" fmla="*/ 1337265 w 1337265"/>
                <a:gd name="connsiteY5" fmla="*/ 6880860 h 6880860"/>
                <a:gd name="connsiteX6" fmla="*/ 1191931 w 1337265"/>
                <a:gd name="connsiteY6" fmla="*/ 6880860 h 6880860"/>
                <a:gd name="connsiteX7" fmla="*/ 1112661 w 1337265"/>
                <a:gd name="connsiteY7" fmla="*/ 6779988 h 6880860"/>
                <a:gd name="connsiteX8" fmla="*/ 0 w 1337265"/>
                <a:gd name="connsiteY8" fmla="*/ 3429000 h 6880860"/>
                <a:gd name="connsiteX9" fmla="*/ 1112661 w 1337265"/>
                <a:gd name="connsiteY9" fmla="*/ 78012 h 6880860"/>
                <a:gd name="connsiteX10" fmla="*/ 1173967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7B9FD8A-7E40-4043-8359-E475C51676BD}"/>
                </a:ext>
              </a:extLst>
            </p:cNvPr>
            <p:cNvSpPr/>
            <p:nvPr userDrawn="1"/>
          </p:nvSpPr>
          <p:spPr>
            <a:xfrm>
              <a:off x="10359435" y="0"/>
              <a:ext cx="1337265" cy="6880860"/>
            </a:xfrm>
            <a:custGeom>
              <a:avLst/>
              <a:gdLst>
                <a:gd name="connsiteX0" fmla="*/ 17965 w 1337265"/>
                <a:gd name="connsiteY0" fmla="*/ 0 h 6880860"/>
                <a:gd name="connsiteX1" fmla="*/ 163299 w 1337265"/>
                <a:gd name="connsiteY1" fmla="*/ 0 h 6880860"/>
                <a:gd name="connsiteX2" fmla="*/ 224604 w 1337265"/>
                <a:gd name="connsiteY2" fmla="*/ 78012 h 6880860"/>
                <a:gd name="connsiteX3" fmla="*/ 1337265 w 1337265"/>
                <a:gd name="connsiteY3" fmla="*/ 3429000 h 6880860"/>
                <a:gd name="connsiteX4" fmla="*/ 224604 w 1337265"/>
                <a:gd name="connsiteY4" fmla="*/ 6779988 h 6880860"/>
                <a:gd name="connsiteX5" fmla="*/ 145334 w 1337265"/>
                <a:gd name="connsiteY5" fmla="*/ 6880860 h 6880860"/>
                <a:gd name="connsiteX6" fmla="*/ 0 w 1337265"/>
                <a:gd name="connsiteY6" fmla="*/ 6880860 h 6880860"/>
                <a:gd name="connsiteX7" fmla="*/ 133012 w 1337265"/>
                <a:gd name="connsiteY7" fmla="*/ 6711601 h 6880860"/>
                <a:gd name="connsiteX8" fmla="*/ 1222965 w 1337265"/>
                <a:gd name="connsiteY8" fmla="*/ 3429000 h 6880860"/>
                <a:gd name="connsiteX9" fmla="*/ 133012 w 1337265"/>
                <a:gd name="connsiteY9" fmla="*/ 146399 h 6880860"/>
                <a:gd name="connsiteX10" fmla="*/ 17965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0783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7A79461-147E-4321-BCEB-239C620C895A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27FF3FB-2A90-1A4B-A366-CE0AE155220B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F24709A5-4858-A44D-B821-F42146DF53B8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82EE531F-0012-974F-BA6C-E1D2238DF0BA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291C91FA-D611-4348-88C8-DD69ADD1C188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993D64C8-E05E-CC43-8636-B4F2A985FFA7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D134293-73DD-BC4D-AA4A-BCA40FCED06E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E041830B-2483-0443-88F8-B37D1054063A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547A531A-D45F-C049-8CA1-BA194A11F991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B7E10FF-D6E3-044D-93B0-89FEEC432B6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3F32321-05B2-8342-866C-4F542D05CF0C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0529271-E450-EF46-A480-CB57E754CF64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8837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C74DA27-089F-41DB-9018-6804069C03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C50A51-9487-074F-BC7F-41495AC915B2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95EA2960-5C98-6E4F-B95B-415133EAE8FE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3E77580F-4D15-8347-A659-A849C7532844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5ACF9FD0-C907-B14A-87BF-0670D241C833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3541DFEB-A052-FD4C-8A00-434EA985D947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3E47BDA1-8338-AF47-B7E3-45475D40755E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2B99E98F-6375-7646-9B81-33813C8E757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7" name="Овал 16">
            <a:extLst>
              <a:ext uri="{FF2B5EF4-FFF2-40B4-BE49-F238E27FC236}">
                <a16:creationId xmlns:a16="http://schemas.microsoft.com/office/drawing/2014/main" id="{F550CBE4-4AA4-0344-A8C4-913FBCB6D394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C0611C4-56C5-EC48-B14E-BF6C5A4AE38E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20BC0DE-67C9-2F4F-B74A-3348FF840A86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5B5F383C-1810-FF44-95F3-9FD818C7F193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3555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CF5337F-F302-414C-9999-654EC56929E7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B262E54-DEFB-1D44-98E5-776A7393D07C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1B1D4EE3-31F2-EE4D-A6B1-0D2FC774F778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672912B1-B984-624C-B632-4F0FCD68B18F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34D37B8D-5C65-D94C-A511-861A626F5CCE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39515827-211A-CE45-9C09-83873BFD5CAC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CB6978C-92C4-E741-9078-C7F575A0370B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6F4D8C99-7A1C-8A40-8A76-E4AE31829C90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3" name="Овал 12">
            <a:extLst>
              <a:ext uri="{FF2B5EF4-FFF2-40B4-BE49-F238E27FC236}">
                <a16:creationId xmlns:a16="http://schemas.microsoft.com/office/drawing/2014/main" id="{166F393E-24B3-A34E-9168-FE8C8B873A69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1281461-4E33-6949-A68D-469CDA19037E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4B264DD-C4D6-8147-900E-E68559593FDD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8146806-B3F2-AC47-B2DC-E6970B4602D1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29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5F888F6-BA81-4650-96F1-E4BE1E5DDAE1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584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B14CD44-37FB-48CC-A24D-89C3A643DD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3118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B14CD44-37FB-48CC-A24D-89C3A643DD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3733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B14CD44-37FB-48CC-A24D-89C3A643DD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5803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B14CD44-37FB-48CC-A24D-89C3A643DD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819287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D0CC0D-F4E8-4EB2-A425-24C0A08BF2ED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7A2141DD-8D8D-FA43-BD4F-2CFC93C87782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71A62821-5E0F-DE41-B5C2-17A3A7277F4E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C311AE14-D8F0-1D4C-9D8D-60383658279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1F2BE645-D4F2-304C-9AFA-473D8F888A85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93640330-30A6-6948-87A7-9DE6D41794F5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ADFB6548-D83C-1D4E-AE87-2E8F1D3D0FA7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D97C7400-7EDC-8845-AB5A-80FB8175C1E2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BC941C44-9B96-0040-8C71-D8364EB5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014993B-5057-2A4C-9CA0-383DC5504020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43B110E8-1FE2-BC47-A5AE-4C698B688B65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87DACF2F-5D4D-434D-8786-E4DF0385E6F6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FE816CC-CBCA-7946-B9E5-E9649EF369BE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D365CB-744A-4AFA-AFC9-892345BE9421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950F4E3-11A9-2549-A00D-601AEF6E49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3"/>
            </a:solidFill>
          </a:ln>
        </p:spPr>
        <p:txBody>
          <a:bodyPr rtlCol="0" anchor="ctr"/>
          <a:lstStyle>
            <a:lvl1pPr algn="ctr"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1" name="Рисунок 3">
            <a:extLst>
              <a:ext uri="{FF2B5EF4-FFF2-40B4-BE49-F238E27FC236}">
                <a16:creationId xmlns:a16="http://schemas.microsoft.com/office/drawing/2014/main" id="{21B5A175-E633-E74F-AE3B-DF58F989F4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6"/>
            </a:solidFill>
          </a:ln>
        </p:spPr>
        <p:txBody>
          <a:bodyPr rtlCol="0" anchor="ctr"/>
          <a:lstStyle>
            <a:lvl1pPr algn="ctr"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2" name="Рисунок 3">
            <a:extLst>
              <a:ext uri="{FF2B5EF4-FFF2-40B4-BE49-F238E27FC236}">
                <a16:creationId xmlns:a16="http://schemas.microsoft.com/office/drawing/2014/main" id="{261D2778-BA56-D247-9B2C-28D010C9D4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0508"/>
            <a:ext cx="2919413" cy="2919413"/>
          </a:xfrm>
          <a:prstGeom prst="ellipse">
            <a:avLst/>
          </a:prstGeom>
          <a:solidFill>
            <a:srgbClr val="EDEFF7"/>
          </a:solidFill>
          <a:ln w="38100">
            <a:solidFill>
              <a:schemeClr val="accent1"/>
            </a:solidFill>
          </a:ln>
        </p:spPr>
        <p:txBody>
          <a:bodyPr rtlCol="0" anchor="ctr"/>
          <a:lstStyle>
            <a:lvl1pPr algn="ctr"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2DAF6EFF-134E-BA40-8B51-917FDE13C07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486968"/>
            <a:ext cx="2919413" cy="583534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Место для имени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188BF917-678C-1249-95B9-7FD2AC7B223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486968"/>
            <a:ext cx="2919413" cy="583534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Место для имени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BAFF17AE-3EA2-2D47-BCDD-E5587B127062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486968"/>
            <a:ext cx="2919413" cy="583534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Место для имени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2D7EDB7-7C02-0245-8A1F-553F094A442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8CF5D165-4F6F-2447-8B9E-8B0D94808ED3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146C35C7-7133-4C43-BBF7-575440F7BAD3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D33DD7BE-C379-5C42-9FB0-EF72161049F4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743DFC41-C6DE-7942-9358-E23A1EE8759D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A2ABB593-7229-9548-8BCC-C947B1BF8D93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986D2413-D60D-484E-ACAB-31891AFDA133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86090E0F-345E-3D4B-8886-95D8A4A77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58682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7873" y="758952"/>
            <a:ext cx="7356255" cy="3566160"/>
          </a:xfrm>
          <a:prstGeom prst="rect">
            <a:avLst/>
          </a:prstGeom>
        </p:spPr>
        <p:txBody>
          <a:bodyPr rtlCol="0" anchor="b" anchorCtr="0">
            <a:normAutofit/>
          </a:bodyPr>
          <a:lstStyle>
            <a:lvl1pPr algn="ctr">
              <a:lnSpc>
                <a:spcPct val="9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417873" y="4663440"/>
            <a:ext cx="7356255" cy="1143000"/>
          </a:xfrm>
        </p:spPr>
        <p:txBody>
          <a:bodyPr lIns="91440" rIns="91440" rtlCol="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158240" y="4485132"/>
            <a:ext cx="9875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5B89D9-0013-4DF9-B570-27DC755C2F3F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675A452-E352-BE40-9E44-7C0E90F4DBC5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2E00246-7C7C-8E48-B95E-02BE89F197F5}"/>
              </a:ext>
            </a:extLst>
          </p:cNvPr>
          <p:cNvSpPr/>
          <p:nvPr userDrawn="1"/>
        </p:nvSpPr>
        <p:spPr>
          <a:xfrm>
            <a:off x="10337662" y="4398630"/>
            <a:ext cx="1700492" cy="1700492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BF1652A-A323-BC48-9A00-7ECF1C4E1DA4}"/>
              </a:ext>
            </a:extLst>
          </p:cNvPr>
          <p:cNvSpPr/>
          <p:nvPr userDrawn="1"/>
        </p:nvSpPr>
        <p:spPr>
          <a:xfrm>
            <a:off x="11634902" y="2565781"/>
            <a:ext cx="283407" cy="283407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733BC29-8FD1-CB45-8FF6-0C7CC3CB423D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C67EB1F-C984-B840-BD1F-FD174D01A3AF}"/>
              </a:ext>
            </a:extLst>
          </p:cNvPr>
          <p:cNvSpPr/>
          <p:nvPr userDrawn="1"/>
        </p:nvSpPr>
        <p:spPr>
          <a:xfrm>
            <a:off x="6135" y="0"/>
            <a:ext cx="1700492" cy="1700492"/>
          </a:xfrm>
          <a:prstGeom prst="ellips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9D75F8B1-A294-E349-BD08-B06B2954212A}"/>
              </a:ext>
            </a:extLst>
          </p:cNvPr>
          <p:cNvGrpSpPr/>
          <p:nvPr userDrawn="1"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5942EFAD-842E-9C46-9853-C0F135D24007}"/>
                </a:ext>
              </a:extLst>
            </p:cNvPr>
            <p:cNvSpPr/>
            <p:nvPr userDrawn="1"/>
          </p:nvSpPr>
          <p:spPr>
            <a:xfrm>
              <a:off x="495300" y="0"/>
              <a:ext cx="1337265" cy="6880860"/>
            </a:xfrm>
            <a:custGeom>
              <a:avLst/>
              <a:gdLst>
                <a:gd name="connsiteX0" fmla="*/ 1173967 w 1337265"/>
                <a:gd name="connsiteY0" fmla="*/ 0 h 6880860"/>
                <a:gd name="connsiteX1" fmla="*/ 1319300 w 1337265"/>
                <a:gd name="connsiteY1" fmla="*/ 0 h 6880860"/>
                <a:gd name="connsiteX2" fmla="*/ 1204253 w 1337265"/>
                <a:gd name="connsiteY2" fmla="*/ 146399 h 6880860"/>
                <a:gd name="connsiteX3" fmla="*/ 114300 w 1337265"/>
                <a:gd name="connsiteY3" fmla="*/ 3429000 h 6880860"/>
                <a:gd name="connsiteX4" fmla="*/ 1204253 w 1337265"/>
                <a:gd name="connsiteY4" fmla="*/ 6711601 h 6880860"/>
                <a:gd name="connsiteX5" fmla="*/ 1337265 w 1337265"/>
                <a:gd name="connsiteY5" fmla="*/ 6880860 h 6880860"/>
                <a:gd name="connsiteX6" fmla="*/ 1191931 w 1337265"/>
                <a:gd name="connsiteY6" fmla="*/ 6880860 h 6880860"/>
                <a:gd name="connsiteX7" fmla="*/ 1112661 w 1337265"/>
                <a:gd name="connsiteY7" fmla="*/ 6779988 h 6880860"/>
                <a:gd name="connsiteX8" fmla="*/ 0 w 1337265"/>
                <a:gd name="connsiteY8" fmla="*/ 3429000 h 6880860"/>
                <a:gd name="connsiteX9" fmla="*/ 1112661 w 1337265"/>
                <a:gd name="connsiteY9" fmla="*/ 78012 h 6880860"/>
                <a:gd name="connsiteX10" fmla="*/ 1173967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BE0B7AF7-52C0-EB45-93DE-79DFF44F5AAE}"/>
                </a:ext>
              </a:extLst>
            </p:cNvPr>
            <p:cNvSpPr/>
            <p:nvPr userDrawn="1"/>
          </p:nvSpPr>
          <p:spPr>
            <a:xfrm>
              <a:off x="10359435" y="0"/>
              <a:ext cx="1337265" cy="6880860"/>
            </a:xfrm>
            <a:custGeom>
              <a:avLst/>
              <a:gdLst>
                <a:gd name="connsiteX0" fmla="*/ 17965 w 1337265"/>
                <a:gd name="connsiteY0" fmla="*/ 0 h 6880860"/>
                <a:gd name="connsiteX1" fmla="*/ 163299 w 1337265"/>
                <a:gd name="connsiteY1" fmla="*/ 0 h 6880860"/>
                <a:gd name="connsiteX2" fmla="*/ 224604 w 1337265"/>
                <a:gd name="connsiteY2" fmla="*/ 78012 h 6880860"/>
                <a:gd name="connsiteX3" fmla="*/ 1337265 w 1337265"/>
                <a:gd name="connsiteY3" fmla="*/ 3429000 h 6880860"/>
                <a:gd name="connsiteX4" fmla="*/ 224604 w 1337265"/>
                <a:gd name="connsiteY4" fmla="*/ 6779988 h 6880860"/>
                <a:gd name="connsiteX5" fmla="*/ 145334 w 1337265"/>
                <a:gd name="connsiteY5" fmla="*/ 6880860 h 6880860"/>
                <a:gd name="connsiteX6" fmla="*/ 0 w 1337265"/>
                <a:gd name="connsiteY6" fmla="*/ 6880860 h 6880860"/>
                <a:gd name="connsiteX7" fmla="*/ 133012 w 1337265"/>
                <a:gd name="connsiteY7" fmla="*/ 6711601 h 6880860"/>
                <a:gd name="connsiteX8" fmla="*/ 1222965 w 1337265"/>
                <a:gd name="connsiteY8" fmla="*/ 3429000 h 6880860"/>
                <a:gd name="connsiteX9" fmla="*/ 133012 w 1337265"/>
                <a:gd name="connsiteY9" fmla="*/ 146399 h 6880860"/>
                <a:gd name="connsiteX10" fmla="*/ 17965 w 1337265"/>
                <a:gd name="connsiteY10" fmla="*/ 0 h 688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265" h="6880860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A79461-147E-4321-BCEB-239C620C895A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06E6D77-4CA3-764C-99E1-7D2CFE6B929E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1D155117-8A2A-414B-9598-C2919DF747DC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53838F88-99DE-9246-A83B-9C7DB6AE99EF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031FBA2-FD0D-7346-8941-4861923E15CF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022D5D5E-3339-5D47-9E1C-8897082672DB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BE7267-458F-A141-8480-10E9FB55367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71A438B-57BE-F445-AFBB-BBB2270E9BB4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40C74AA-3663-2A49-AA62-C9207F22BF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E70AAE0-F405-8C4D-B2F2-BC73ABD2560F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C72AC8A-19AA-5641-88DA-414732A1A643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B0FF4153-FE4A-204C-B4B4-F331F8058F73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0910027-B57E-5C4C-B196-C2CF16EB6B83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74DA27-089F-41DB-9018-6804069C03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D896C11-7092-DD43-9676-23A81081B759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39FB8D4-533A-0C44-89B5-487470B0B82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642B0AB-C322-C14B-B2A1-E9F144473219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47ABE4C7-7926-3949-9205-07E33FB2D2CE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E1B43F26-6C7C-4D43-9D1C-A0F792F54874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C53D175F-F9D4-DD4E-81B9-495A2E867249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852D03A0-BBCF-2042-832A-8082F1377835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E2831508-70C2-2F43-998D-55CE4837B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5232ACE3-4E65-6243-9416-19BFA39FD92C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A372105-F1CB-9149-A4B9-C151B3CCB9B4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AE2DDF3-5C18-5644-8994-8CD902656DE8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383F4E3-E6C1-BB40-90E6-290C140F9A07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F5337F-F302-414C-9999-654EC56929E7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10058400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B23D2B0-E152-D14D-8154-8DD47BD10DF3}"/>
              </a:ext>
            </a:extLst>
          </p:cNvPr>
          <p:cNvSpPr/>
          <p:nvPr userDrawn="1"/>
        </p:nvSpPr>
        <p:spPr>
          <a:xfrm>
            <a:off x="10429390" y="360726"/>
            <a:ext cx="1035859" cy="1035859"/>
          </a:xfrm>
          <a:prstGeom prst="ellipse">
            <a:avLst/>
          </a:prstGeom>
          <a:noFill/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8A3BEDF6-5ABA-3B42-99BB-4438813B1A4B}"/>
              </a:ext>
            </a:extLst>
          </p:cNvPr>
          <p:cNvSpPr/>
          <p:nvPr userDrawn="1"/>
        </p:nvSpPr>
        <p:spPr>
          <a:xfrm>
            <a:off x="458087" y="5430446"/>
            <a:ext cx="99011" cy="99011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9CF8BE7-F2AC-AB4C-900F-F64D55111EFC}"/>
              </a:ext>
            </a:extLst>
          </p:cNvPr>
          <p:cNvSpPr/>
          <p:nvPr userDrawn="1"/>
        </p:nvSpPr>
        <p:spPr>
          <a:xfrm>
            <a:off x="5664570" y="125360"/>
            <a:ext cx="176394" cy="176394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EF4254B-D281-684E-BD0B-63AEC0AC197C}"/>
              </a:ext>
            </a:extLst>
          </p:cNvPr>
          <p:cNvSpPr/>
          <p:nvPr userDrawn="1"/>
        </p:nvSpPr>
        <p:spPr>
          <a:xfrm>
            <a:off x="11383587" y="6035040"/>
            <a:ext cx="776923" cy="776923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63DE5C-7286-415E-BD66-0312B5E1AB50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2C09A16-A6B6-E04E-A40A-F482C0A95C0A}"/>
              </a:ext>
            </a:extLst>
          </p:cNvPr>
          <p:cNvGrpSpPr/>
          <p:nvPr userDrawn="1"/>
        </p:nvGrpSpPr>
        <p:grpSpPr>
          <a:xfrm rot="5400000">
            <a:off x="-21619" y="1088453"/>
            <a:ext cx="910099" cy="99010"/>
            <a:chOff x="622418" y="280927"/>
            <a:chExt cx="2335705" cy="254101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6B2DF34-338D-4F43-B8F7-D7A00348B68B}"/>
                </a:ext>
              </a:extLst>
            </p:cNvPr>
            <p:cNvSpPr/>
            <p:nvPr userDrawn="1"/>
          </p:nvSpPr>
          <p:spPr>
            <a:xfrm>
              <a:off x="1038739" y="280927"/>
              <a:ext cx="254101" cy="254101"/>
            </a:xfrm>
            <a:prstGeom prst="ellips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3778C21-4171-774D-A73F-77BEBF2E4C18}"/>
                </a:ext>
              </a:extLst>
            </p:cNvPr>
            <p:cNvSpPr/>
            <p:nvPr userDrawn="1"/>
          </p:nvSpPr>
          <p:spPr>
            <a:xfrm>
              <a:off x="1455060" y="280927"/>
              <a:ext cx="254101" cy="254101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CC25D2EF-AE01-A247-8BC3-8F35F863C0A6}"/>
                </a:ext>
              </a:extLst>
            </p:cNvPr>
            <p:cNvSpPr/>
            <p:nvPr userDrawn="1"/>
          </p:nvSpPr>
          <p:spPr>
            <a:xfrm>
              <a:off x="1871381" y="280927"/>
              <a:ext cx="254101" cy="254101"/>
            </a:xfrm>
            <a:prstGeom prst="ellipse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5F860801-109B-EB4F-96A8-35D76B759583}"/>
                </a:ext>
              </a:extLst>
            </p:cNvPr>
            <p:cNvSpPr/>
            <p:nvPr userDrawn="1"/>
          </p:nvSpPr>
          <p:spPr>
            <a:xfrm>
              <a:off x="2287702" y="280927"/>
              <a:ext cx="254101" cy="254101"/>
            </a:xfrm>
            <a:prstGeom prst="ellipse">
              <a:avLst/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97337F70-9199-7242-BD8B-8F96606A18A1}"/>
                </a:ext>
              </a:extLst>
            </p:cNvPr>
            <p:cNvSpPr/>
            <p:nvPr userDrawn="1"/>
          </p:nvSpPr>
          <p:spPr>
            <a:xfrm>
              <a:off x="2704022" y="280927"/>
              <a:ext cx="254101" cy="254101"/>
            </a:xfrm>
            <a:prstGeom prst="ellips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F9320B7-AD58-7649-BC95-614ED90F4E69}"/>
                </a:ext>
              </a:extLst>
            </p:cNvPr>
            <p:cNvSpPr/>
            <p:nvPr userDrawn="1"/>
          </p:nvSpPr>
          <p:spPr>
            <a:xfrm>
              <a:off x="622418" y="280927"/>
              <a:ext cx="254101" cy="254101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C0DE796-998A-F84E-9B56-1958C6777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421817"/>
            <a:ext cx="5751389" cy="1369074"/>
          </a:xfrm>
          <a:prstGeom prst="rect">
            <a:avLst/>
          </a:prstGeom>
        </p:spPr>
        <p:txBody>
          <a:bodyPr lIns="0" rIns="0" rtlCol="0" anchor="ctr">
            <a:normAutofit/>
          </a:bodyPr>
          <a:lstStyle>
            <a:lvl1pPr>
              <a:defRPr sz="4000" cap="all" baseline="0"/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384D173E-9054-4C40-98EA-A6EAC4D851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1641" y="0"/>
            <a:ext cx="4270360" cy="6858001"/>
          </a:xfrm>
          <a:custGeom>
            <a:avLst/>
            <a:gdLst>
              <a:gd name="connsiteX0" fmla="*/ 1904091 w 4305219"/>
              <a:gd name="connsiteY0" fmla="*/ 0 h 6913983"/>
              <a:gd name="connsiteX1" fmla="*/ 4305219 w 4305219"/>
              <a:gd name="connsiteY1" fmla="*/ 0 h 6913983"/>
              <a:gd name="connsiteX2" fmla="*/ 4305219 w 4305219"/>
              <a:gd name="connsiteY2" fmla="*/ 6913983 h 6913983"/>
              <a:gd name="connsiteX3" fmla="*/ 1818156 w 4305219"/>
              <a:gd name="connsiteY3" fmla="*/ 6913983 h 6913983"/>
              <a:gd name="connsiteX4" fmla="*/ 1507580 w 4305219"/>
              <a:gd name="connsiteY4" fmla="*/ 6681739 h 6913983"/>
              <a:gd name="connsiteX5" fmla="*/ 0 w 4305219"/>
              <a:gd name="connsiteY5" fmla="*/ 3484983 h 6913983"/>
              <a:gd name="connsiteX6" fmla="*/ 1826504 w 4305219"/>
              <a:gd name="connsiteY6" fmla="*/ 49741 h 69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05219" h="6913983">
                <a:moveTo>
                  <a:pt x="1904091" y="0"/>
                </a:moveTo>
                <a:lnTo>
                  <a:pt x="4305219" y="0"/>
                </a:lnTo>
                <a:lnTo>
                  <a:pt x="4305219" y="6913983"/>
                </a:lnTo>
                <a:lnTo>
                  <a:pt x="1818156" y="6913983"/>
                </a:lnTo>
                <a:lnTo>
                  <a:pt x="1507580" y="6681739"/>
                </a:lnTo>
                <a:cubicBezTo>
                  <a:pt x="586863" y="5921896"/>
                  <a:pt x="0" y="4771974"/>
                  <a:pt x="0" y="3484983"/>
                </a:cubicBezTo>
                <a:cubicBezTo>
                  <a:pt x="0" y="2054993"/>
                  <a:pt x="724522" y="794225"/>
                  <a:pt x="1826504" y="497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noAutofit/>
          </a:bodyPr>
          <a:lstStyle/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881322FE-E286-E344-B332-CF37E6CAD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322728"/>
            <a:ext cx="5751389" cy="4032225"/>
          </a:xfrm>
        </p:spPr>
        <p:txBody>
          <a:bodyPr rtlCol="0"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998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AB14CD44-37FB-48CC-A24D-89C3A643DD86}" type="datetime1">
              <a:rPr lang="ru-RU" noProof="0" smtClean="0"/>
              <a:t>28.02.2021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479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07" r:id="rId12"/>
    <p:sldLayoutId id="2147483722" r:id="rId13"/>
    <p:sldLayoutId id="2147483708" r:id="rId14"/>
    <p:sldLayoutId id="2147483709" r:id="rId15"/>
    <p:sldLayoutId id="2147483716" r:id="rId16"/>
    <p:sldLayoutId id="2147483710" r:id="rId17"/>
    <p:sldLayoutId id="2147483724" r:id="rId18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50278-9A9A-0F4E-BDCF-6351BE173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 err="1">
                <a:latin typeface="Gabriola" pitchFamily="82" charset="0"/>
              </a:rPr>
              <a:t>Рабдологічий</a:t>
            </a:r>
            <a:r>
              <a:rPr lang="ru-RU" dirty="0">
                <a:latin typeface="Gabriola" pitchFamily="82" charset="0"/>
              </a:rPr>
              <a:t> абак Клода Перо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F481B-9C2C-084A-8DF1-0582D2DA4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err="1">
                <a:latin typeface="Gabriola" pitchFamily="82" charset="0"/>
              </a:rPr>
              <a:t>Виконали</a:t>
            </a:r>
            <a:r>
              <a:rPr lang="ru-RU" dirty="0">
                <a:latin typeface="Gabriola" pitchFamily="82" charset="0"/>
              </a:rPr>
              <a:t>: </a:t>
            </a:r>
            <a:r>
              <a:rPr lang="ru-RU" dirty="0" err="1">
                <a:latin typeface="Gabriola" pitchFamily="82" charset="0"/>
              </a:rPr>
              <a:t>Колдунова</a:t>
            </a:r>
            <a:r>
              <a:rPr lang="ru-RU" dirty="0">
                <a:latin typeface="Gabriola" pitchFamily="82" charset="0"/>
              </a:rPr>
              <a:t> </a:t>
            </a:r>
            <a:r>
              <a:rPr lang="ru-RU" dirty="0" err="1">
                <a:latin typeface="Gabriola" pitchFamily="82" charset="0"/>
              </a:rPr>
              <a:t>Анастасія</a:t>
            </a:r>
            <a:r>
              <a:rPr lang="ru-RU" dirty="0">
                <a:latin typeface="Gabriola" pitchFamily="82" charset="0"/>
              </a:rPr>
              <a:t> і </a:t>
            </a:r>
            <a:r>
              <a:rPr lang="ru-RU" dirty="0" err="1">
                <a:latin typeface="Gabriola" pitchFamily="82" charset="0"/>
              </a:rPr>
              <a:t>Колдунова</a:t>
            </a:r>
            <a:r>
              <a:rPr lang="ru-RU" dirty="0">
                <a:latin typeface="Gabriola" pitchFamily="82" charset="0"/>
              </a:rPr>
              <a:t> </a:t>
            </a:r>
            <a:r>
              <a:rPr lang="ru-RU" dirty="0" err="1">
                <a:latin typeface="Gabriola" pitchFamily="82" charset="0"/>
              </a:rPr>
              <a:t>Тетяна</a:t>
            </a:r>
            <a:endParaRPr lang="ru-RU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93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A55D852-1206-1841-884B-592351A6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309" y="421816"/>
            <a:ext cx="10058400" cy="1369074"/>
          </a:xfrm>
        </p:spPr>
        <p:txBody>
          <a:bodyPr/>
          <a:lstStyle/>
          <a:p>
            <a:r>
              <a:rPr lang="ru-UA" dirty="0">
                <a:latin typeface="Gabriola" pitchFamily="82" charset="0"/>
              </a:rPr>
              <a:t>Про Устройстов</a:t>
            </a:r>
            <a:r>
              <a:rPr lang="uk-UA" dirty="0">
                <a:latin typeface="Gabriola" pitchFamily="82" charset="0"/>
              </a:rPr>
              <a:t>о</a:t>
            </a:r>
            <a:endParaRPr lang="ru-UA" dirty="0">
              <a:latin typeface="Gabriola" pitchFamily="82" charset="0"/>
            </a:endParaRP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F0C2A369-1122-BF40-94AA-E9EBD9D7B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944" y="1193937"/>
            <a:ext cx="5782665" cy="44572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700" dirty="0" err="1">
                <a:latin typeface="Gabriola" pitchFamily="82" charset="0"/>
              </a:rPr>
              <a:t>Рабдологический</a:t>
            </a:r>
            <a:r>
              <a:rPr lang="ru-RU" sz="1700" dirty="0">
                <a:latin typeface="Gabriola" pitchFamily="82" charset="0"/>
              </a:rPr>
              <a:t> абак – суммирующая машина, изобретенная Клодом Перро, братом знаменитого сказочника Шарля Перро. Впервые, упоминание об этом изобретении встречается в 1700 году в книге «Сборник большого числа машин собственного сочинения», изданной Клодом Перро посмертно.</a:t>
            </a:r>
          </a:p>
          <a:p>
            <a:pPr marL="0" indent="0" algn="just">
              <a:buNone/>
            </a:pPr>
            <a:r>
              <a:rPr lang="ru-RU" sz="1700" dirty="0">
                <a:latin typeface="Gabriola" pitchFamily="82" charset="0"/>
              </a:rPr>
              <a:t>Счетная машина, действительно, представляла собой пластину в палец толщиной, примерно 30 сантиметров высотой и 14 – шириной. На лицевой стороне машины было вырезано два окошка для отображения результатов. В верхнем окошке показывался результат вычитания, а в нижнем – сложения.</a:t>
            </a:r>
          </a:p>
          <a:p>
            <a:pPr marL="0" indent="0" algn="just">
              <a:buNone/>
            </a:pPr>
            <a:r>
              <a:rPr lang="ru-RU" sz="1700" dirty="0">
                <a:latin typeface="Gabriola" pitchFamily="82" charset="0"/>
              </a:rPr>
              <a:t>В нижней части лицевой стороны была выгравирована таблица умножения.</a:t>
            </a:r>
          </a:p>
          <a:p>
            <a:endParaRPr lang="ru-UA" dirty="0"/>
          </a:p>
        </p:txBody>
      </p:sp>
      <p:pic>
        <p:nvPicPr>
          <p:cNvPr id="1028" name="Picture 4" descr="Клод Перро ">
            <a:extLst>
              <a:ext uri="{FF2B5EF4-FFF2-40B4-BE49-F238E27FC236}">
                <a16:creationId xmlns:a16="http://schemas.microsoft.com/office/drawing/2014/main" id="{8AD46CB6-3DD7-0140-AAB0-E8C70182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461" y="1200373"/>
            <a:ext cx="3319230" cy="445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414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CB06251-69A7-8A47-88C6-E0A926A3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259D92BD-231B-014E-9650-0A3B37AF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A" dirty="0"/>
          </a:p>
        </p:txBody>
      </p:sp>
      <p:pic>
        <p:nvPicPr>
          <p:cNvPr id="2052" name="Picture 4" descr="Рабдологический абак Клода Перро / Блог компании ua-hosting.company / Хабр">
            <a:extLst>
              <a:ext uri="{FF2B5EF4-FFF2-40B4-BE49-F238E27FC236}">
                <a16:creationId xmlns:a16="http://schemas.microsoft.com/office/drawing/2014/main" id="{59C9C4D0-4C38-9448-B2BF-3A1515F85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2" y="-1"/>
            <a:ext cx="824141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Рабдологический абак. Вид сверху.">
            <a:extLst>
              <a:ext uri="{FF2B5EF4-FFF2-40B4-BE49-F238E27FC236}">
                <a16:creationId xmlns:a16="http://schemas.microsoft.com/office/drawing/2014/main" id="{FA93DA59-4F39-3F49-9396-2E3C60E9D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963" y="0"/>
            <a:ext cx="3983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888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45C835-2940-5143-8E0A-F37402D9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6014"/>
            <a:ext cx="9601200" cy="69957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Gabriola" pitchFamily="82" charset="0"/>
              </a:rPr>
              <a:t>Принцип </a:t>
            </a:r>
            <a:r>
              <a:rPr lang="ru-UA" dirty="0">
                <a:latin typeface="Gabriola" pitchFamily="82" charset="0"/>
              </a:rPr>
              <a:t>Работы механической ИС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3AB8C1B9-50B4-B84D-97B4-E40CFBC06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035586"/>
            <a:ext cx="9601200" cy="582241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Gabriola" pitchFamily="82" charset="0"/>
              </a:rPr>
              <a:t>Передача данных на примере сложения (127+65)</a:t>
            </a:r>
          </a:p>
          <a:p>
            <a:pPr algn="just"/>
            <a:r>
              <a:rPr lang="ru-RU" sz="1800" dirty="0">
                <a:latin typeface="Gabriola" pitchFamily="82" charset="0"/>
              </a:rPr>
              <a:t>Устанавливаем все разряды </a:t>
            </a:r>
            <a:r>
              <a:rPr lang="ru-RU" sz="1800" dirty="0" err="1">
                <a:latin typeface="Gabriola" pitchFamily="82" charset="0"/>
              </a:rPr>
              <a:t>рабдологического</a:t>
            </a:r>
            <a:r>
              <a:rPr lang="ru-RU" sz="1800" dirty="0">
                <a:latin typeface="Gabriola" pitchFamily="82" charset="0"/>
              </a:rPr>
              <a:t> абака в ноль, для чего, с помощью штифта, передвигаем линейки в крайнее верхнее положение.</a:t>
            </a:r>
          </a:p>
          <a:p>
            <a:pPr algn="just"/>
            <a:r>
              <a:rPr lang="ru-RU" sz="1800" dirty="0">
                <a:latin typeface="Gabriola" pitchFamily="82" charset="0"/>
              </a:rPr>
              <a:t>Ставим штифт в паз на риску линейки младшего разряда, находящуюся напротив цифры семь, и сдвигают линейку до тех пор, пока штифт не упрется в нижний торец паза. При этом в окошке результата сложения в младшем разряде отобразится вводимое число (семь). Стоит заметить, что в окошке результата вычитания в младшем разряде будет отображено число, необходимое для дополнения семерки до десяти, то есть три.</a:t>
            </a:r>
          </a:p>
          <a:p>
            <a:pPr algn="just"/>
            <a:r>
              <a:rPr lang="ru-RU" sz="1800" dirty="0">
                <a:latin typeface="Gabriola" pitchFamily="82" charset="0"/>
              </a:rPr>
              <a:t>Аналогичную операцию проделываем и с разрядом десяток, только в этом случае паз устанавливаем напротив цифры 2.</a:t>
            </a:r>
          </a:p>
          <a:p>
            <a:pPr marL="0" indent="0" algn="just">
              <a:buNone/>
            </a:pPr>
            <a:r>
              <a:rPr lang="ru-RU" dirty="0">
                <a:latin typeface="Gabriola" pitchFamily="82" charset="0"/>
              </a:rPr>
              <a:t>Передача данных на примере вычитания (68-23)</a:t>
            </a:r>
          </a:p>
          <a:p>
            <a:pPr algn="just"/>
            <a:r>
              <a:rPr lang="ru-RU" sz="1800" dirty="0">
                <a:latin typeface="Gabriola" pitchFamily="82" charset="0"/>
              </a:rPr>
              <a:t>Все разряды </a:t>
            </a:r>
            <a:r>
              <a:rPr lang="ru-RU" sz="1800" dirty="0" err="1">
                <a:latin typeface="Gabriola" pitchFamily="82" charset="0"/>
              </a:rPr>
              <a:t>рабдологического</a:t>
            </a:r>
            <a:r>
              <a:rPr lang="ru-RU" sz="1800" dirty="0">
                <a:latin typeface="Gabriola" pitchFamily="82" charset="0"/>
              </a:rPr>
              <a:t> абака устанавливаются в 0. Для этого с помощью штифта, линейки передвигаются в крайнее верхнее положение.</a:t>
            </a:r>
          </a:p>
          <a:p>
            <a:pPr algn="just"/>
            <a:r>
              <a:rPr lang="ru-RU" sz="1800" dirty="0">
                <a:latin typeface="Gabriola" pitchFamily="82" charset="0"/>
              </a:rPr>
              <a:t>Вводится младший разряд уменьшаемого. Линейка младшего разряда передвигается так, чтобы в окошке результата вычитания в позиции младшего разряда отобразилась цифра 8. Чтобы этого добиться, необходимо поставить штифт в паз на риску, находящуюся напротив цифры 2, и сдвинуть линейку вниз до тех пор, пока штифт не упрется в торец паза</a:t>
            </a:r>
          </a:p>
          <a:p>
            <a:r>
              <a:rPr lang="ru-RU" sz="1800" dirty="0">
                <a:latin typeface="Gabriola" pitchFamily="82" charset="0"/>
              </a:rPr>
              <a:t>Далее вводится разряд десяток уменьшаемого, для чего соответствующая линейка передвигается так, чтобы в окошке результата вычитания на второй позиции отобразилась цифра 6. Для этого штифт ставится в паз на риску, находящуюся напротив цифры 4, а линейка сдвигается вниз до тех пор, пока штифт не упрется в торец паза. В итоге, окно результата вычитания отобразит число 68.</a:t>
            </a:r>
            <a:br>
              <a:rPr lang="ru-RU" sz="1800" dirty="0">
                <a:latin typeface="Gabriola" pitchFamily="82" charset="0"/>
              </a:rPr>
            </a:br>
            <a:endParaRPr lang="ru-RU" sz="1800" dirty="0">
              <a:latin typeface="Gabriola" pitchFamily="82" charset="0"/>
            </a:endParaRP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700" dirty="0"/>
          </a:p>
          <a:p>
            <a:pPr marL="0" indent="0">
              <a:buNone/>
            </a:pPr>
            <a:endParaRPr lang="ru-UA" sz="1700" dirty="0"/>
          </a:p>
        </p:txBody>
      </p:sp>
    </p:spTree>
    <p:extLst>
      <p:ext uri="{BB962C8B-B14F-4D97-AF65-F5344CB8AC3E}">
        <p14:creationId xmlns:p14="http://schemas.microsoft.com/office/powerpoint/2010/main" val="2068964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F37B581-6833-2044-8744-DC8606B72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313981"/>
            <a:ext cx="9093506" cy="61198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UA" sz="1900" dirty="0">
                <a:latin typeface="Gabriola" pitchFamily="82" charset="0"/>
              </a:rPr>
              <a:t>Обработка данных </a:t>
            </a:r>
            <a:r>
              <a:rPr lang="ru-RU" sz="1900" dirty="0">
                <a:latin typeface="Gabriola" pitchFamily="82" charset="0"/>
              </a:rPr>
              <a:t>на примере сложения (127+65)</a:t>
            </a:r>
            <a:endParaRPr lang="ru-UA" sz="1900" dirty="0">
              <a:latin typeface="Gabriola" pitchFamily="82" charset="0"/>
            </a:endParaRPr>
          </a:p>
          <a:p>
            <a:pPr algn="just"/>
            <a:r>
              <a:rPr lang="ru-RU" sz="1700" dirty="0">
                <a:latin typeface="Gabriola" pitchFamily="82" charset="0"/>
              </a:rPr>
              <a:t>Следующее действие — ввод второго слагаемого. Штифт устанавливается в паз на риску линейки младшего разряда, находящуюся напротив цифры 5, линейка сдвигается вниз до упора. При этом штифт остановится напротив цифры 2, так как линейка упрется в нижнюю стенку устройства раньше, чем штифт достигнет нижнего торца паза. В тоже время линейка разряда десяток опустится на одно деление вниз, за счет работы механизма переноса переполнения. В окне результата сложения отобразится цифра 130.</a:t>
            </a:r>
          </a:p>
          <a:p>
            <a:pPr algn="just"/>
            <a:r>
              <a:rPr lang="ru-RU" sz="1700" dirty="0">
                <a:latin typeface="Gabriola" pitchFamily="82" charset="0"/>
              </a:rPr>
              <a:t>Для того, чтобы получить верную цифру в разряде единиц — 2, следует, не извлекая штифта из прорези, продвинуть линейку вверх, пока штифт не упрется в торец паза. Таким образом, в окне результата сложения отобразится цифра 132.</a:t>
            </a:r>
          </a:p>
          <a:p>
            <a:pPr algn="just"/>
            <a:r>
              <a:rPr lang="ru-RU" sz="1700" dirty="0">
                <a:latin typeface="Gabriola" pitchFamily="82" charset="0"/>
              </a:rPr>
              <a:t>Завершающий этап — вводится разряд десятков второго слагаемого. Для этого штифт устанавливается в паз на риску линейки разряда десятков, находящуюся напротив цифры 6, линейка сдвигается вниз до упора. На этом вычисления заканчиваются</a:t>
            </a:r>
          </a:p>
          <a:p>
            <a:pPr marL="0" indent="0" algn="just">
              <a:buNone/>
            </a:pPr>
            <a:r>
              <a:rPr lang="ru-RU" sz="1900" dirty="0">
                <a:latin typeface="Gabriola" pitchFamily="82" charset="0"/>
              </a:rPr>
              <a:t>Обработка данных на примере вычитания (68-23)</a:t>
            </a:r>
          </a:p>
          <a:p>
            <a:pPr algn="just"/>
            <a:r>
              <a:rPr lang="ru-RU" sz="1900" dirty="0">
                <a:latin typeface="Gabriola" pitchFamily="82" charset="0"/>
              </a:rPr>
              <a:t> Вычитаемое вводится также, как и слагаемое при сложении. Для ввода младшего разряда вычитаемого, штифт устанавливается в паз на риску линейки младшего разряда, напротив цифры 3. Линейка двигается вниз, пока штифт не упрется в торец паза. Далее вводится старший разряд вычитаемого, для чего штифт устанавливается в паз на риску второй слева линейки, напротив цифры 2. Линейка двигается вниз, пока штифт не упрется в торец паза. Разница двух чисел найдена</a:t>
            </a:r>
          </a:p>
          <a:p>
            <a:pPr marL="0" indent="0">
              <a:buNone/>
            </a:pPr>
            <a:endParaRPr lang="ru-RU" sz="1800" dirty="0">
              <a:latin typeface="Gabriola" pitchFamily="82" charset="0"/>
            </a:endParaRPr>
          </a:p>
          <a:p>
            <a:endParaRPr lang="ru-RU" sz="1800" dirty="0">
              <a:latin typeface="Gabriola" pitchFamily="82" charset="0"/>
            </a:endParaRPr>
          </a:p>
          <a:p>
            <a:endParaRPr lang="ru-UA" sz="17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432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71BA48A-0F17-304A-912E-FA3B19C80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84279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UA" sz="1900" dirty="0">
                <a:latin typeface="Gabriola" pitchFamily="82" charset="0"/>
              </a:rPr>
              <a:t>Получение данных:</a:t>
            </a:r>
          </a:p>
          <a:p>
            <a:pPr marL="0" indent="0">
              <a:buNone/>
            </a:pPr>
            <a:endParaRPr lang="ru-UA" sz="1900" dirty="0">
              <a:latin typeface="Gabriola" pitchFamily="82" charset="0"/>
            </a:endParaRPr>
          </a:p>
          <a:p>
            <a:r>
              <a:rPr lang="ru-UA" sz="1700" dirty="0">
                <a:latin typeface="Gabriola" pitchFamily="82" charset="0"/>
              </a:rPr>
              <a:t>В случае сложения данны отображаются в нижнем окошке перед таблицей умножения. При примере  127+65, в окошке отобразится результат 192</a:t>
            </a:r>
          </a:p>
          <a:p>
            <a:pPr marL="0" indent="0">
              <a:buNone/>
            </a:pPr>
            <a:endParaRPr lang="ru-UA" sz="1700" dirty="0">
              <a:latin typeface="Gabriola" pitchFamily="82" charset="0"/>
            </a:endParaRPr>
          </a:p>
          <a:p>
            <a:r>
              <a:rPr lang="ru-UA" sz="1700" dirty="0">
                <a:latin typeface="Gabriola" pitchFamily="82" charset="0"/>
              </a:rPr>
              <a:t>В случае вычитания, в самом верху после пазов для ввода данных находится еще одно окошко в котором отображается результат обработки ваших данных. При примере 68-23, в окошке отобразится искомый результат 45</a:t>
            </a:r>
          </a:p>
        </p:txBody>
      </p:sp>
    </p:spTree>
    <p:extLst>
      <p:ext uri="{BB962C8B-B14F-4D97-AF65-F5344CB8AC3E}">
        <p14:creationId xmlns:p14="http://schemas.microsoft.com/office/powerpoint/2010/main" val="4253523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C12C760-E668-AE44-9529-182C538F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27357"/>
            <a:ext cx="10058400" cy="455331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err="1">
                <a:latin typeface="Gabriola" pitchFamily="82" charset="0"/>
              </a:rPr>
              <a:t>Рабдологический</a:t>
            </a:r>
            <a:r>
              <a:rPr lang="ru-RU" sz="2400" dirty="0">
                <a:latin typeface="Gabriola" pitchFamily="82" charset="0"/>
              </a:rPr>
              <a:t> абак имеет процессы управления, свойственны операционной системе, например: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Gabriola" pitchFamily="82" charset="0"/>
              </a:rPr>
              <a:t>Устройство разделяет производственный процесс на элементарные операции;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Gabriola" pitchFamily="82" charset="0"/>
              </a:rPr>
              <a:t>Объединяет результаты операций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Gabriola" pitchFamily="82" charset="0"/>
              </a:rPr>
              <a:t>автоматизация выполнения операции с использованием </a:t>
            </a:r>
            <a:r>
              <a:rPr lang="ru-RU" sz="2400" dirty="0" err="1">
                <a:latin typeface="Gabriola" pitchFamily="82" charset="0"/>
              </a:rPr>
              <a:t>Рабдологического</a:t>
            </a:r>
            <a:r>
              <a:rPr lang="ru-RU" sz="2400" dirty="0">
                <a:latin typeface="Gabriola" pitchFamily="82" charset="0"/>
              </a:rPr>
              <a:t> абака</a:t>
            </a:r>
          </a:p>
          <a:p>
            <a:pPr marL="0" indent="0">
              <a:buNone/>
            </a:pPr>
            <a:r>
              <a:rPr lang="ru-RU" dirty="0">
                <a:latin typeface="Gabriola" pitchFamily="82" charset="0"/>
              </a:rPr>
              <a:t>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A34D240-8CF5-4949-8EB6-6F7E1BE39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1277"/>
            <a:ext cx="10058400" cy="1106080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Gabriola" pitchFamily="82" charset="0"/>
              </a:rPr>
              <a:t>Процессы управления компонентами механического устройства, свойственны ОС</a:t>
            </a:r>
          </a:p>
        </p:txBody>
      </p:sp>
    </p:spTree>
    <p:extLst>
      <p:ext uri="{BB962C8B-B14F-4D97-AF65-F5344CB8AC3E}">
        <p14:creationId xmlns:p14="http://schemas.microsoft.com/office/powerpoint/2010/main" val="617051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19B5237-BDF3-DF4F-A32C-E09E9C891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53786"/>
            <a:ext cx="9601200" cy="451361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Gabriola" pitchFamily="82" charset="0"/>
              </a:rPr>
              <a:t>В 1792 году </a:t>
            </a:r>
            <a:r>
              <a:rPr lang="ru-RU" dirty="0" err="1">
                <a:latin typeface="Gabriola" pitchFamily="82" charset="0"/>
              </a:rPr>
              <a:t>Гаспар</a:t>
            </a:r>
            <a:r>
              <a:rPr lang="ru-RU" dirty="0">
                <a:latin typeface="Gabriola" pitchFamily="82" charset="0"/>
              </a:rPr>
              <a:t> де </a:t>
            </a:r>
            <a:r>
              <a:rPr lang="ru-RU" dirty="0" err="1">
                <a:latin typeface="Gabriola" pitchFamily="82" charset="0"/>
              </a:rPr>
              <a:t>Прони</a:t>
            </a:r>
            <a:r>
              <a:rPr lang="ru-RU" dirty="0">
                <a:latin typeface="Gabriola" pitchFamily="82" charset="0"/>
              </a:rPr>
              <a:t> предложил идею создания «Вычислительной фабрики», производящей десятичные логарифмические и тригонометрические таблицы, на 3-х уровнях:</a:t>
            </a:r>
            <a:endParaRPr lang="en-US" dirty="0">
              <a:latin typeface="Gabriola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Gabriola" pitchFamily="82" charset="0"/>
              </a:rPr>
              <a:t>верхний уровень (аналитический): великие математики занимаются выведением математических выражений, пригодных для численных расчетов;</a:t>
            </a:r>
            <a:endParaRPr lang="en-US" dirty="0">
              <a:latin typeface="Gabriola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Gabriola" pitchFamily="82" charset="0"/>
              </a:rPr>
              <a:t>второй уровень (уровень группировки и упрощения): математики-ассистенты вычисляют значения функций для аргументов;</a:t>
            </a:r>
            <a:endParaRPr lang="en-US" dirty="0">
              <a:latin typeface="Gabriola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Gabriola" pitchFamily="82" charset="0"/>
              </a:rPr>
              <a:t>третий уровень (вычислительный): специально обученные рабочие проводят рутинные расчеты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438BE4F-B27A-8544-B69A-CDAB0714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1817"/>
            <a:ext cx="10058400" cy="741965"/>
          </a:xfrm>
        </p:spPr>
        <p:txBody>
          <a:bodyPr/>
          <a:lstStyle/>
          <a:p>
            <a:pPr algn="ctr"/>
            <a:r>
              <a:rPr lang="ru-RU" dirty="0">
                <a:latin typeface="Gabriola" pitchFamily="82" charset="0"/>
              </a:rPr>
              <a:t>Вычислительная фабрика</a:t>
            </a:r>
          </a:p>
        </p:txBody>
      </p:sp>
    </p:spTree>
    <p:extLst>
      <p:ext uri="{BB962C8B-B14F-4D97-AF65-F5344CB8AC3E}">
        <p14:creationId xmlns:p14="http://schemas.microsoft.com/office/powerpoint/2010/main" val="994603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F4328E-77DF-41E8-952F-124AE19F1F7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A7FA506-1E93-4CA4-B270-1F08FD18C3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2FE978-FCBC-4C90-A410-B547AA706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{FFE7F867-C08D-2646-8C00-CC6DF25265EE}tf10001072</Template>
  <TotalTime>4144</TotalTime>
  <Words>810</Words>
  <Application>Microsoft Macintosh PowerPoint</Application>
  <PresentationFormat>Широкоэкранный</PresentationFormat>
  <Paragraphs>41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Gabriola</vt:lpstr>
      <vt:lpstr>Уголки</vt:lpstr>
      <vt:lpstr>Рабдологічий абак Клода Перо</vt:lpstr>
      <vt:lpstr>Про Устройстово</vt:lpstr>
      <vt:lpstr>Презентация PowerPoint</vt:lpstr>
      <vt:lpstr>Принцип Работы механической ИС</vt:lpstr>
      <vt:lpstr>Презентация PowerPoint</vt:lpstr>
      <vt:lpstr>Презентация PowerPoint</vt:lpstr>
      <vt:lpstr>Процессы управления компонентами механического устройства, свойственны ОС</vt:lpstr>
      <vt:lpstr>Вычислительная фабрика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Рабдологічий абак Клода Перо</dc:title>
  <dc:creator>Microsoft Office User</dc:creator>
  <cp:lastModifiedBy>Microsoft Office User</cp:lastModifiedBy>
  <cp:revision>21</cp:revision>
  <dcterms:created xsi:type="dcterms:W3CDTF">2021-02-22T07:12:04Z</dcterms:created>
  <dcterms:modified xsi:type="dcterms:W3CDTF">2021-02-28T22:03:59Z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